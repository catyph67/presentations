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27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6" r:id="rId11"/>
    <p:sldId id="265" r:id="rId12"/>
    <p:sldId id="268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28" autoAdjust="0"/>
    <p:restoredTop sz="94660"/>
  </p:normalViewPr>
  <p:slideViewPr>
    <p:cSldViewPr snapToGrid="0">
      <p:cViewPr varScale="1">
        <p:scale>
          <a:sx n="88" d="100"/>
          <a:sy n="88" d="100"/>
        </p:scale>
        <p:origin x="-379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9D8DC-4432-45F7-AD45-BFADF0E205CD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FFC9B6-7901-4DA9-AD10-4E596732FC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971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EA828-1CBB-4EF1-AA79-E15FC967C8F3}" type="datetime1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955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A0901-9F96-4547-BA0B-6B7807D037EF}" type="datetime1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829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267EB-1114-415C-B7B5-F087C42B1B6F}" type="datetime1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676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1559A-FC40-4E9D-BCAA-A948693654E9}" type="datetime1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24547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D329D-C21A-4241-B0FC-2E72A44D7090}" type="datetime1">
              <a:rPr lang="ru-RU" smtClean="0"/>
              <a:t>08.12.2025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345540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EFED6-5C03-4764-8A25-4DE58C1DBF74}" type="datetime1">
              <a:rPr lang="ru-RU" smtClean="0"/>
              <a:t>08.12.2025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879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1D03-DBED-4046-832A-5DDDA6443EC8}" type="datetime1">
              <a:rPr lang="ru-RU" smtClean="0"/>
              <a:t>08.12.2025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713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5CF784C-75A5-4AED-9666-127EB8EF910B}" type="datetime1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042573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790DD-79C2-47EF-80BA-054E195C8416}" type="datetime1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00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7AE41-43AF-4510-B05E-719577854FB6}" type="datetime1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642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FC482-C036-4281-BA24-F62FDA88E02E}" type="datetime1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877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D24D855-A064-44A6-97F1-6D0CF2F10E12}" type="datetime1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946E592-E975-418C-BA9E-57AC8E7E0289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420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8" r:id="rId1"/>
    <p:sldLayoutId id="2147484229" r:id="rId2"/>
    <p:sldLayoutId id="2147484230" r:id="rId3"/>
    <p:sldLayoutId id="2147484231" r:id="rId4"/>
    <p:sldLayoutId id="2147484232" r:id="rId5"/>
    <p:sldLayoutId id="2147484233" r:id="rId6"/>
    <p:sldLayoutId id="2147484234" r:id="rId7"/>
    <p:sldLayoutId id="2147484235" r:id="rId8"/>
    <p:sldLayoutId id="2147484236" r:id="rId9"/>
    <p:sldLayoutId id="2147484237" r:id="rId10"/>
    <p:sldLayoutId id="214748423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8A40FEE-5795-45BE-95D2-9CAA1C78F8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5400" dirty="0"/>
              <a:t>Решение астрономических задач с использованием распределённых (</a:t>
            </a:r>
            <a:r>
              <a:rPr lang="ru-RU" sz="5400" dirty="0" err="1"/>
              <a:t>Grid</a:t>
            </a:r>
            <a:r>
              <a:rPr lang="ru-RU" sz="5400" dirty="0"/>
              <a:t>) систем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19D04E51-AD72-4864-AD1F-70EFCECAC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4505954"/>
            <a:ext cx="10058400" cy="1143000"/>
          </a:xfrm>
        </p:spPr>
        <p:txBody>
          <a:bodyPr/>
          <a:lstStyle/>
          <a:p>
            <a:pPr algn="r"/>
            <a:r>
              <a:rPr lang="ru-RU" dirty="0"/>
              <a:t>Выполнил Иванов </a:t>
            </a:r>
            <a:r>
              <a:rPr lang="ru-RU" dirty="0" err="1"/>
              <a:t>кирилл</a:t>
            </a:r>
            <a:r>
              <a:rPr lang="ru-RU" dirty="0"/>
              <a:t> </a:t>
            </a:r>
            <a:r>
              <a:rPr lang="ru-RU" dirty="0" err="1"/>
              <a:t>александрович</a:t>
            </a:r>
            <a:r>
              <a:rPr lang="ru-RU" dirty="0"/>
              <a:t> 17 гр.</a:t>
            </a:r>
          </a:p>
        </p:txBody>
      </p:sp>
    </p:spTree>
    <p:extLst>
      <p:ext uri="{BB962C8B-B14F-4D97-AF65-F5344CB8AC3E}">
        <p14:creationId xmlns:p14="http://schemas.microsoft.com/office/powerpoint/2010/main" val="4095561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/>
              <a:t>Почему астрономии нужна распределённая </a:t>
            </a:r>
            <a:r>
              <a:rPr lang="ru-RU" dirty="0" smtClean="0"/>
              <a:t>обработка данных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828" y="1837107"/>
            <a:ext cx="5303520" cy="4023360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ru-RU" sz="2400" dirty="0" smtClean="0"/>
              <a:t> Современные </a:t>
            </a:r>
            <a:r>
              <a:rPr lang="ru-RU" sz="2400" dirty="0"/>
              <a:t>телескопы (оптические, радио, инфракрасные) генерируют петабайты </a:t>
            </a:r>
            <a:r>
              <a:rPr lang="ru-RU" sz="2400" dirty="0" smtClean="0"/>
              <a:t>данных</a:t>
            </a:r>
            <a:r>
              <a:rPr lang="en-US" sz="2400" dirty="0" smtClean="0"/>
              <a:t>;</a:t>
            </a:r>
            <a:endParaRPr lang="ru-RU" sz="2400" dirty="0" smtClean="0"/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Наблюдения </a:t>
            </a:r>
            <a:r>
              <a:rPr lang="ru-RU" sz="2400" dirty="0"/>
              <a:t>нерегулярны, </a:t>
            </a:r>
            <a:r>
              <a:rPr lang="ru-RU" sz="2400" dirty="0" smtClean="0"/>
              <a:t>много диапазонов </a:t>
            </a:r>
            <a:r>
              <a:rPr lang="ru-RU" sz="2400" dirty="0"/>
              <a:t>и географически </a:t>
            </a:r>
            <a:r>
              <a:rPr lang="ru-RU" sz="2400" dirty="0" smtClean="0"/>
              <a:t>распределены</a:t>
            </a:r>
            <a:r>
              <a:rPr lang="en-US" sz="2400" dirty="0" smtClean="0"/>
              <a:t>;</a:t>
            </a:r>
            <a:endParaRPr lang="ru-RU" sz="2400" dirty="0" smtClean="0"/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Местные </a:t>
            </a:r>
            <a:r>
              <a:rPr lang="ru-RU" sz="2400" dirty="0"/>
              <a:t>вычислительные ресурсы не справляются с обработкой, хранением и </a:t>
            </a:r>
            <a:r>
              <a:rPr lang="ru-RU" sz="2400" dirty="0" smtClean="0"/>
              <a:t>анализом</a:t>
            </a:r>
            <a:r>
              <a:rPr lang="ru-RU" sz="2400" dirty="0"/>
              <a:t>.</a:t>
            </a:r>
            <a:endParaRPr lang="ru-RU" sz="2400" dirty="0" smtClean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2</a:t>
            </a:fld>
            <a:endParaRPr lang="ru-RU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656" y="1945948"/>
            <a:ext cx="5452194" cy="313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7682721" y="5193903"/>
            <a:ext cx="26640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/>
              <a:t>Пример </a:t>
            </a:r>
            <a:r>
              <a:rPr lang="ru-RU" sz="2400" dirty="0" err="1" smtClean="0"/>
              <a:t>sky-survey</a:t>
            </a:r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8026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/>
              <a:t>Задача </a:t>
            </a:r>
            <a:r>
              <a:rPr lang="en-US" dirty="0"/>
              <a:t>gridding </a:t>
            </a:r>
            <a:r>
              <a:rPr lang="ru-RU" dirty="0"/>
              <a:t>в радиоастрономии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ru-RU" sz="2400" dirty="0"/>
              <a:t>Радиоинтерферометры (LOFAR, </a:t>
            </a:r>
            <a:r>
              <a:rPr lang="ru-RU" sz="2400" dirty="0" err="1"/>
              <a:t>MeerKAT</a:t>
            </a:r>
            <a:r>
              <a:rPr lang="ru-RU" sz="2400" dirty="0"/>
              <a:t>, FAST) производят нерегулярные измерения в пространстве </a:t>
            </a:r>
            <a:r>
              <a:rPr lang="ru-RU" sz="2400" dirty="0" smtClean="0"/>
              <a:t>время–частота–координата. Чтобы </a:t>
            </a:r>
            <a:r>
              <a:rPr lang="ru-RU" sz="2400" dirty="0"/>
              <a:t>получить изображение неба, данные переводят на регулярную сетку («</a:t>
            </a:r>
            <a:r>
              <a:rPr lang="ru-RU" sz="2400" dirty="0" err="1"/>
              <a:t>gridding</a:t>
            </a:r>
            <a:r>
              <a:rPr lang="ru-RU" sz="2400" dirty="0" smtClean="0"/>
              <a:t>»).</a:t>
            </a:r>
          </a:p>
          <a:p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Это самый тяжёлый этап при построении </a:t>
            </a:r>
            <a:r>
              <a:rPr lang="ru-RU" sz="2400" dirty="0" err="1"/>
              <a:t>радиоизображений</a:t>
            </a:r>
            <a:r>
              <a:rPr lang="ru-RU" sz="2400" dirty="0"/>
              <a:t>, требующий огромных вычислений.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7630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/>
              <a:t>Распределённые </a:t>
            </a:r>
            <a:r>
              <a:rPr lang="en-US" dirty="0"/>
              <a:t>gridding-</a:t>
            </a:r>
            <a:r>
              <a:rPr lang="ru-RU" dirty="0" err="1"/>
              <a:t>фреймворки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ru-RU" sz="2400" dirty="0"/>
              <a:t>Современные системы используют несколько уровней параллелизма: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Распределение </a:t>
            </a:r>
            <a:r>
              <a:rPr lang="ru-RU" sz="2400" dirty="0"/>
              <a:t>данных между узлами </a:t>
            </a:r>
            <a:r>
              <a:rPr lang="ru-RU" sz="2400" dirty="0" err="1" smtClean="0"/>
              <a:t>grid</a:t>
            </a:r>
            <a:r>
              <a:rPr lang="en-US" sz="2400" dirty="0" smtClean="0"/>
              <a:t>;</a:t>
            </a:r>
            <a:endParaRPr lang="ru-RU" sz="2400" dirty="0"/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CPU-</a:t>
            </a:r>
            <a:r>
              <a:rPr lang="ru-RU" sz="2400" dirty="0" err="1" smtClean="0"/>
              <a:t>многопоточность</a:t>
            </a:r>
            <a:r>
              <a:rPr lang="en-US" sz="2400" dirty="0" smtClean="0"/>
              <a:t>;</a:t>
            </a:r>
            <a:endParaRPr lang="ru-RU" sz="2400" dirty="0"/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GPU-ускорение </a:t>
            </a:r>
            <a:r>
              <a:rPr lang="ru-RU" sz="2400" dirty="0"/>
              <a:t>для свёртки и </a:t>
            </a:r>
            <a:r>
              <a:rPr lang="ru-RU" sz="2400" dirty="0" smtClean="0"/>
              <a:t>интерполяции</a:t>
            </a:r>
            <a:r>
              <a:rPr lang="en-US" sz="2400" dirty="0"/>
              <a:t>;</a:t>
            </a:r>
            <a:endParaRPr lang="ru-RU" sz="2400" dirty="0"/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Потоковые </a:t>
            </a:r>
            <a:r>
              <a:rPr lang="ru-RU" sz="2400" dirty="0" err="1"/>
              <a:t>pipelines</a:t>
            </a:r>
            <a:r>
              <a:rPr lang="ru-RU" sz="2400" dirty="0"/>
              <a:t> для многоканальных наблюдений.</a:t>
            </a:r>
          </a:p>
          <a:p>
            <a:r>
              <a:rPr lang="ru-RU" sz="2400" dirty="0"/>
              <a:t>Такие решения обеспечивают обработку данных современных телескопов практически в реальном времени.</a:t>
            </a:r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4586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/>
              <a:t>Поддержка многоканальных радиоастрономических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ru-RU" sz="2400" dirty="0"/>
              <a:t>Современные радиотелескопы формируют данные сразу в десятках или сотнях частотных каналов. </a:t>
            </a:r>
            <a:endParaRPr lang="ru-RU" sz="2400" dirty="0" smtClean="0"/>
          </a:p>
          <a:p>
            <a:r>
              <a:rPr lang="ru-RU" sz="2400" dirty="0" smtClean="0"/>
              <a:t>Распределенная система </a:t>
            </a:r>
            <a:r>
              <a:rPr lang="ru-RU" sz="2400" dirty="0"/>
              <a:t>способна обрабатывать поток данных от крупных радиотелескопов практически в реальном времени или с минимальной </a:t>
            </a:r>
            <a:r>
              <a:rPr lang="ru-RU" sz="2400" dirty="0" smtClean="0"/>
              <a:t>задержкой.</a:t>
            </a:r>
            <a:endParaRPr lang="ru-RU" sz="2400" dirty="0"/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151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Big-data </a:t>
            </a:r>
            <a:r>
              <a:rPr lang="ru-RU" dirty="0"/>
              <a:t>для каталогов: </a:t>
            </a:r>
            <a:r>
              <a:rPr lang="en-US" dirty="0"/>
              <a:t>AXS </a:t>
            </a:r>
            <a:r>
              <a:rPr lang="ru-RU" dirty="0" smtClean="0"/>
              <a:t>и</a:t>
            </a:r>
            <a:r>
              <a:rPr lang="en-US" dirty="0" smtClean="0"/>
              <a:t> </a:t>
            </a:r>
            <a:r>
              <a:rPr lang="en-US" dirty="0"/>
              <a:t>Apache Spark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ru-RU" sz="2400" dirty="0"/>
              <a:t>Каталоги масштаба </a:t>
            </a:r>
            <a:r>
              <a:rPr lang="en-US" sz="2400" dirty="0"/>
              <a:t>Gaia DR2, </a:t>
            </a:r>
            <a:r>
              <a:rPr lang="en-US" sz="2400" dirty="0" err="1"/>
              <a:t>AllWISE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en-US" sz="2400" dirty="0"/>
              <a:t>Pan-STARRS </a:t>
            </a:r>
            <a:r>
              <a:rPr lang="ru-RU" sz="2400" dirty="0"/>
              <a:t>содержат миллиарды объектов.</a:t>
            </a:r>
            <a:br>
              <a:rPr lang="ru-RU" sz="2400" dirty="0"/>
            </a:br>
            <a:r>
              <a:rPr lang="en-US" sz="2400" dirty="0"/>
              <a:t>AXS </a:t>
            </a:r>
            <a:r>
              <a:rPr lang="ru-RU" sz="2400" dirty="0"/>
              <a:t>использует </a:t>
            </a:r>
            <a:r>
              <a:rPr lang="en-US" sz="2400" dirty="0"/>
              <a:t>Spark </a:t>
            </a:r>
            <a:r>
              <a:rPr lang="ru-RU" sz="2400" dirty="0"/>
              <a:t>для распределённой фильтрации, перекрёстное сопоставление, статистики</a:t>
            </a:r>
            <a:r>
              <a:rPr lang="ru-RU" sz="2400" dirty="0" smtClean="0"/>
              <a:t>.</a:t>
            </a:r>
          </a:p>
          <a:p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 smtClean="0"/>
              <a:t>Перекрёстное </a:t>
            </a:r>
            <a:r>
              <a:rPr lang="ru-RU" sz="2400" dirty="0"/>
              <a:t>сопоставление</a:t>
            </a:r>
            <a:r>
              <a:rPr lang="en-US" sz="2400" dirty="0" smtClean="0"/>
              <a:t> </a:t>
            </a:r>
            <a:r>
              <a:rPr lang="en-US" sz="2400" dirty="0"/>
              <a:t>Gaia DR2 × </a:t>
            </a:r>
            <a:r>
              <a:rPr lang="en-US" sz="2400" dirty="0" err="1"/>
              <a:t>AllWISE</a:t>
            </a:r>
            <a:r>
              <a:rPr lang="en-US" sz="2400" dirty="0"/>
              <a:t> </a:t>
            </a:r>
            <a:r>
              <a:rPr lang="ru-RU" sz="2400" dirty="0"/>
              <a:t>был выполнен за </a:t>
            </a:r>
            <a:r>
              <a:rPr lang="ru-RU" sz="2400" dirty="0" smtClean="0"/>
              <a:t>примерно 30 </a:t>
            </a:r>
            <a:r>
              <a:rPr lang="ru-RU" sz="2400" dirty="0"/>
              <a:t>секунд — показатель эффективности распределённых вычислений.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7853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err="1"/>
              <a:t>Astro</a:t>
            </a:r>
            <a:r>
              <a:rPr lang="en-US" dirty="0"/>
              <a:t>-WISE — </a:t>
            </a:r>
            <a:r>
              <a:rPr lang="ru-RU" dirty="0"/>
              <a:t>пример полноценной </a:t>
            </a:r>
            <a:r>
              <a:rPr lang="en-US" dirty="0"/>
              <a:t>grid-</a:t>
            </a:r>
            <a:r>
              <a:rPr lang="ru-RU" dirty="0"/>
              <a:t>экосистемы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ru-RU" sz="2400" dirty="0" err="1"/>
              <a:t>Astro</a:t>
            </a:r>
            <a:r>
              <a:rPr lang="ru-RU" sz="2400" dirty="0"/>
              <a:t>-WISE </a:t>
            </a:r>
            <a:r>
              <a:rPr lang="ru-RU" sz="2400" dirty="0" smtClean="0"/>
              <a:t>– соединяет </a:t>
            </a:r>
            <a:r>
              <a:rPr lang="ru-RU" sz="2400" dirty="0"/>
              <a:t>архивы, вычислительные сервисы, метаданные, распределённое хранение</a:t>
            </a:r>
            <a:r>
              <a:rPr lang="ru-RU" sz="2400" dirty="0" smtClean="0"/>
              <a:t>.</a:t>
            </a:r>
          </a:p>
          <a:p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Каждый узел автономен, но данные и вычисления доступны всему </a:t>
            </a:r>
            <a:r>
              <a:rPr lang="ru-RU" sz="2400" dirty="0" smtClean="0"/>
              <a:t>сообществу. Так же поддерживает </a:t>
            </a:r>
            <a:r>
              <a:rPr lang="ru-RU" sz="2400" dirty="0"/>
              <a:t>совместную редукцию данных, калибровку и анализ.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2616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 err="1"/>
              <a:t>Grid</a:t>
            </a:r>
            <a:r>
              <a:rPr lang="ru-RU" dirty="0"/>
              <a:t>-базы данных и распределённые запросы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ru-RU" sz="2400" dirty="0"/>
              <a:t>Наблюдательные архивы часто хранятся в разных обсерваториях</a:t>
            </a:r>
            <a:r>
              <a:rPr lang="ru-RU" sz="2400" dirty="0" smtClean="0"/>
              <a:t>.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 err="1"/>
              <a:t>Grid</a:t>
            </a:r>
            <a:r>
              <a:rPr lang="ru-RU" sz="2400" dirty="0"/>
              <a:t>-прослойка объединяет их в одну логическую базу: запрос может выполняться сразу в нескольких хранилищах</a:t>
            </a:r>
            <a:r>
              <a:rPr lang="ru-RU" sz="2400" dirty="0" smtClean="0"/>
              <a:t>.</a:t>
            </a:r>
          </a:p>
          <a:p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Это критично для больших обзоров (SDSS-подобных), где данные фрагментированы по множеству узлов.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9025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/>
              <a:t>Р</a:t>
            </a:r>
            <a:r>
              <a:rPr lang="ru-RU" dirty="0" smtClean="0"/>
              <a:t>асширение </a:t>
            </a:r>
            <a:r>
              <a:rPr lang="ru-RU" dirty="0" err="1"/>
              <a:t>grid</a:t>
            </a:r>
            <a:r>
              <a:rPr lang="ru-RU" dirty="0"/>
              <a:t>-подхода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ru-RU" sz="2400" dirty="0"/>
              <a:t>В дополнение к классическим </a:t>
            </a:r>
            <a:r>
              <a:rPr lang="ru-RU" sz="2400" dirty="0" err="1"/>
              <a:t>grid</a:t>
            </a:r>
            <a:r>
              <a:rPr lang="ru-RU" sz="2400" dirty="0"/>
              <a:t>-архитектурам, в астрономии всё чаще применяются гибридные модели, в которых инфраструктура больших данных используется как высокоуровневый механизм распределённой обработки</a:t>
            </a:r>
            <a:r>
              <a:rPr lang="ru-RU" sz="2400" dirty="0" smtClean="0"/>
              <a:t>.</a:t>
            </a:r>
          </a:p>
          <a:p>
            <a:r>
              <a:rPr lang="ru-RU" sz="2400" dirty="0"/>
              <a:t>Одним из ключевых направлений стала разработка специализированных библиотек, позволяющих астрономам работать с большими каталогами наблюдений в привычной парадигме табличных данных.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7578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ru-RU" dirty="0"/>
              <a:t>Облачные технологии и распределённые </a:t>
            </a:r>
            <a:r>
              <a:rPr lang="ru-RU" dirty="0" smtClean="0"/>
              <a:t>вычисления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ru-RU" sz="2400" dirty="0"/>
              <a:t>Современные платформы совмещают </a:t>
            </a:r>
            <a:r>
              <a:rPr lang="en-US" sz="2400" dirty="0"/>
              <a:t>grid </a:t>
            </a:r>
            <a:r>
              <a:rPr lang="ru-RU" sz="2400" dirty="0"/>
              <a:t>и </a:t>
            </a:r>
            <a:r>
              <a:rPr lang="en-US" sz="2400" dirty="0"/>
              <a:t>cloud: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 err="1" smtClean="0"/>
              <a:t>Kubernetes</a:t>
            </a:r>
            <a:r>
              <a:rPr lang="en-US" sz="2400" dirty="0" smtClean="0"/>
              <a:t> </a:t>
            </a:r>
            <a:r>
              <a:rPr lang="ru-RU" sz="2400" dirty="0"/>
              <a:t>для </a:t>
            </a:r>
            <a:r>
              <a:rPr lang="ru-RU" sz="2400" dirty="0" err="1" smtClean="0"/>
              <a:t>оркестрации</a:t>
            </a:r>
            <a:r>
              <a:rPr lang="ru-RU" sz="2400" dirty="0"/>
              <a:t> </a:t>
            </a:r>
            <a:r>
              <a:rPr lang="ru-RU" sz="2400" dirty="0" smtClean="0"/>
              <a:t>(процесс </a:t>
            </a:r>
            <a:r>
              <a:rPr lang="ru-RU" sz="2400" dirty="0"/>
              <a:t>координации работы различных компонентов системы, который позволяет обеспечить их оптимальное </a:t>
            </a:r>
            <a:r>
              <a:rPr lang="ru-RU" sz="2400" dirty="0" smtClean="0"/>
              <a:t>взаимодействие)</a:t>
            </a:r>
            <a:r>
              <a:rPr lang="en-US" sz="2400" dirty="0" smtClean="0"/>
              <a:t>;</a:t>
            </a:r>
            <a:endParaRPr lang="ru-RU" sz="2400" dirty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</a:t>
            </a:r>
            <a:r>
              <a:rPr lang="ru-RU" sz="2400" dirty="0"/>
              <a:t>О</a:t>
            </a:r>
            <a:r>
              <a:rPr lang="ru-RU" sz="2400" dirty="0" smtClean="0"/>
              <a:t>блачные хранилища</a:t>
            </a:r>
            <a:r>
              <a:rPr lang="en-US" sz="2400" dirty="0" smtClean="0"/>
              <a:t>;</a:t>
            </a:r>
            <a:endParaRPr lang="ru-RU" sz="2400" dirty="0"/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</a:t>
            </a:r>
            <a:r>
              <a:rPr lang="en-US" sz="2400" dirty="0" smtClean="0"/>
              <a:t>Spark-</a:t>
            </a:r>
            <a:r>
              <a:rPr lang="ru-RU" sz="2400" dirty="0" smtClean="0"/>
              <a:t>кластеры</a:t>
            </a:r>
            <a:r>
              <a:rPr lang="en-US" sz="2400" dirty="0" smtClean="0"/>
              <a:t>;</a:t>
            </a:r>
            <a:endParaRPr lang="ru-RU" sz="2400" dirty="0"/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</a:t>
            </a:r>
            <a:r>
              <a:rPr lang="en-US" sz="2400" dirty="0" err="1" smtClean="0"/>
              <a:t>JupyterHub</a:t>
            </a:r>
            <a:r>
              <a:rPr lang="en-US" sz="2400" dirty="0" smtClean="0"/>
              <a:t> </a:t>
            </a:r>
            <a:r>
              <a:rPr lang="ru-RU" sz="2400" dirty="0"/>
              <a:t>как интерфейс.</a:t>
            </a:r>
          </a:p>
          <a:p>
            <a:r>
              <a:rPr lang="ru-RU" sz="2400" dirty="0"/>
              <a:t>Так работает </a:t>
            </a:r>
            <a:r>
              <a:rPr lang="en-US" sz="2400" dirty="0"/>
              <a:t>Astronomy Commons — </a:t>
            </a:r>
            <a:r>
              <a:rPr lang="ru-RU" sz="2400" dirty="0"/>
              <a:t>пример облачной инфраструктуры для обработки </a:t>
            </a:r>
            <a:r>
              <a:rPr lang="en-US" sz="2400" dirty="0"/>
              <a:t>survey-</a:t>
            </a:r>
            <a:r>
              <a:rPr lang="ru-RU" sz="2400" dirty="0"/>
              <a:t>данных.</a:t>
            </a:r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5567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 smtClean="0"/>
              <a:t>Обработка в реальном времени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ru-RU" sz="2400" dirty="0"/>
              <a:t>Будущие телескопы (SKA, LSST) будут производить данные потоком.</a:t>
            </a:r>
            <a:br>
              <a:rPr lang="ru-RU" sz="2400" dirty="0"/>
            </a:br>
            <a:r>
              <a:rPr lang="ru-RU" sz="2400" dirty="0"/>
              <a:t>Необходимы распределённые системы, способные: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Выполнять </a:t>
            </a:r>
            <a:r>
              <a:rPr lang="ru-RU" sz="2400" dirty="0" err="1"/>
              <a:t>gridding</a:t>
            </a:r>
            <a:r>
              <a:rPr lang="ru-RU" sz="2400" dirty="0"/>
              <a:t> в реальном </a:t>
            </a:r>
            <a:r>
              <a:rPr lang="ru-RU" sz="2400" dirty="0" smtClean="0"/>
              <a:t>времени</a:t>
            </a:r>
            <a:r>
              <a:rPr lang="en-US" sz="2400" dirty="0" smtClean="0"/>
              <a:t>;</a:t>
            </a:r>
            <a:endParaRPr lang="ru-RU" sz="2400" dirty="0"/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Поддерживать </a:t>
            </a:r>
            <a:r>
              <a:rPr lang="ru-RU" sz="2400" dirty="0"/>
              <a:t>быстрые реакции на </a:t>
            </a:r>
            <a:r>
              <a:rPr lang="ru-RU" sz="2400" dirty="0" smtClean="0"/>
              <a:t>события</a:t>
            </a:r>
            <a:r>
              <a:rPr lang="en-US" sz="2400" dirty="0" smtClean="0"/>
              <a:t>;</a:t>
            </a:r>
            <a:endParaRPr lang="ru-RU" sz="2400" dirty="0"/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Автоматически </a:t>
            </a:r>
            <a:r>
              <a:rPr lang="ru-RU" sz="2400" dirty="0"/>
              <a:t>масштабировать ресурсы.</a:t>
            </a:r>
          </a:p>
          <a:p>
            <a:pPr>
              <a:buFont typeface="Arial" pitchFamily="34" charset="0"/>
              <a:buChar char="•"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7824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ru-RU" dirty="0"/>
              <a:t>Инфраструктурные, федеративные </a:t>
            </a:r>
            <a:r>
              <a:rPr lang="ru-RU" dirty="0" smtClean="0"/>
              <a:t>экосистемы </a:t>
            </a:r>
            <a:r>
              <a:rPr lang="ru-RU" dirty="0"/>
              <a:t>для </a:t>
            </a:r>
            <a:r>
              <a:rPr lang="ru-RU" dirty="0" smtClean="0"/>
              <a:t>науки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ru-RU" sz="2400" dirty="0"/>
              <a:t>Уже сейчас среди научных сообществ усиливается тренд на создание распределённых научных “экосистем” — объединяющих данные, вычисления, инструменты, доступ, совместную работу. </a:t>
            </a:r>
            <a:endParaRPr lang="ru-RU" sz="2400" dirty="0" smtClean="0"/>
          </a:p>
          <a:p>
            <a:r>
              <a:rPr lang="ru-RU" sz="2400" dirty="0" smtClean="0"/>
              <a:t>В </a:t>
            </a:r>
            <a:r>
              <a:rPr lang="ru-RU" sz="2400" dirty="0"/>
              <a:t>таких экосистемах хранение, доступ, обработка, управление метаданными, права доступа, совместная работа </a:t>
            </a:r>
            <a:r>
              <a:rPr lang="ru-RU" sz="2400" dirty="0" smtClean="0"/>
              <a:t>становятся встроенными.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7548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/>
              <a:t>Вызовы и ограничения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ru-RU" sz="2400" dirty="0"/>
              <a:t>Основные сложности: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Безопасность </a:t>
            </a:r>
            <a:r>
              <a:rPr lang="ru-RU" sz="2400" dirty="0"/>
              <a:t>распределённых </a:t>
            </a:r>
            <a:r>
              <a:rPr lang="ru-RU" sz="2400" dirty="0" smtClean="0"/>
              <a:t>хранилищ</a:t>
            </a:r>
            <a:r>
              <a:rPr lang="en-US" sz="2400" dirty="0" smtClean="0"/>
              <a:t>;</a:t>
            </a:r>
            <a:endParaRPr lang="ru-RU" sz="2400" dirty="0"/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Пропускная </a:t>
            </a:r>
            <a:r>
              <a:rPr lang="ru-RU" sz="2400" dirty="0"/>
              <a:t>способность </a:t>
            </a:r>
            <a:r>
              <a:rPr lang="ru-RU" sz="2400" dirty="0" smtClean="0"/>
              <a:t>сетей</a:t>
            </a:r>
            <a:r>
              <a:rPr lang="en-US" sz="2400" dirty="0" smtClean="0"/>
              <a:t>;</a:t>
            </a:r>
            <a:endParaRPr lang="ru-RU" sz="2400" dirty="0"/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Управление </a:t>
            </a:r>
            <a:r>
              <a:rPr lang="ru-RU" sz="2400" dirty="0"/>
              <a:t>ресурсами и </a:t>
            </a:r>
            <a:r>
              <a:rPr lang="ru-RU" sz="2400" dirty="0" smtClean="0"/>
              <a:t>балансировка</a:t>
            </a:r>
            <a:r>
              <a:rPr lang="en-US" sz="2400" dirty="0" smtClean="0"/>
              <a:t>;</a:t>
            </a:r>
            <a:endParaRPr lang="ru-RU" sz="2400" dirty="0"/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 Стандартизация </a:t>
            </a:r>
            <a:r>
              <a:rPr lang="ru-RU" sz="2400" dirty="0"/>
              <a:t>метаданных.</a:t>
            </a:r>
          </a:p>
          <a:p>
            <a:r>
              <a:rPr lang="ru-RU" sz="2400" dirty="0"/>
              <a:t>Эти проблемы требуют междисциплинарных инженерных решений.</a:t>
            </a:r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8853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114557F-D43D-4F01-B83D-468A5DDD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BC0052C-6E7E-4564-83DB-18A03862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r>
              <a:rPr lang="ru-RU" sz="2400" dirty="0"/>
              <a:t>Распределённые и </a:t>
            </a:r>
            <a:r>
              <a:rPr lang="ru-RU" sz="2400" dirty="0" err="1"/>
              <a:t>grid</a:t>
            </a:r>
            <a:r>
              <a:rPr lang="ru-RU" sz="2400" dirty="0"/>
              <a:t>-системы стали критически важным элементом современной астрономии.</a:t>
            </a:r>
            <a:br>
              <a:rPr lang="ru-RU" sz="2400" dirty="0"/>
            </a:br>
            <a:r>
              <a:rPr lang="ru-RU" sz="2400" dirty="0"/>
              <a:t>Они позволяют работать с данными гигантских телескопов, объединять каталоги, ускорять обработку и масштабировать исследования.</a:t>
            </a:r>
            <a:br>
              <a:rPr lang="ru-RU" sz="2400" dirty="0"/>
            </a:br>
            <a:r>
              <a:rPr lang="ru-RU" sz="2400" dirty="0"/>
              <a:t>Без таких систем будущие </a:t>
            </a:r>
            <a:r>
              <a:rPr lang="ru-RU" sz="2400"/>
              <a:t>проекты </a:t>
            </a:r>
            <a:r>
              <a:rPr lang="ru-RU" sz="2400" smtClean="0"/>
              <a:t>просто </a:t>
            </a:r>
            <a:r>
              <a:rPr lang="ru-RU" sz="2400" dirty="0"/>
              <a:t>невозможны.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2E30EB84-A504-4717-AA08-D881B765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5074" y="6388834"/>
            <a:ext cx="1312025" cy="365125"/>
          </a:xfrm>
        </p:spPr>
        <p:txBody>
          <a:bodyPr/>
          <a:lstStyle/>
          <a:p>
            <a:fld id="{B946E592-E975-418C-BA9E-57AC8E7E0289}" type="slidenum">
              <a:rPr lang="ru-RU" sz="3600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1048984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139</TotalTime>
  <Words>460</Words>
  <Application>Microsoft Office PowerPoint</Application>
  <PresentationFormat>Произвольный</PresentationFormat>
  <Paragraphs>69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Ретро</vt:lpstr>
      <vt:lpstr>Решение астрономических задач с использованием распределённых (Grid) систем</vt:lpstr>
      <vt:lpstr>Почему астрономии нужна распределённая обработка данных</vt:lpstr>
      <vt:lpstr>Задача gridding в радиоастрономии</vt:lpstr>
      <vt:lpstr>Распределённые gridding-фреймворки</vt:lpstr>
      <vt:lpstr>Поддержка многоканальных радиоастрономических данных</vt:lpstr>
      <vt:lpstr>Big-data для каталогов: AXS и Apache Spark</vt:lpstr>
      <vt:lpstr>Astro-WISE — пример полноценной grid-экосистемы</vt:lpstr>
      <vt:lpstr>Grid-базы данных и распределённые запросы</vt:lpstr>
      <vt:lpstr>Расширение grid-подхода</vt:lpstr>
      <vt:lpstr>Облачные технологии и распределённые вычисления</vt:lpstr>
      <vt:lpstr>Обработка в реальном времени</vt:lpstr>
      <vt:lpstr>Инфраструктурные, федеративные экосистемы для науки</vt:lpstr>
      <vt:lpstr>Вызовы и ограничения</vt:lpstr>
      <vt:lpstr>Заключение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Spit Bull</dc:creator>
  <cp:lastModifiedBy>Кирилл Иванов</cp:lastModifiedBy>
  <cp:revision>27</cp:revision>
  <dcterms:created xsi:type="dcterms:W3CDTF">2025-11-16T17:18:29Z</dcterms:created>
  <dcterms:modified xsi:type="dcterms:W3CDTF">2025-12-08T13:13:01Z</dcterms:modified>
</cp:coreProperties>
</file>